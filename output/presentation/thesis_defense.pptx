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7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9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0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1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5c9c6844a4559" /><Relationship Type="http://schemas.openxmlformats.org/officeDocument/2006/relationships/extended-properties" Target="/docProps/app.xml" Id="Rf53a7bc781da459f" /><Relationship Type="http://schemas.openxmlformats.org/officeDocument/2006/relationships/officeDocument" Target="/ppt/presentation.xml" Id="R3b9c754b0d16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bc50483f24f43"/>
  </p:sldMasterIdLst>
  <p:notesMasterIdLst>
    <p:notesMasterId xmlns:r="http://schemas.openxmlformats.org/officeDocument/2006/relationships" r:id="R28b29ecc78fc4f41"/>
  </p:notesMasterIdLst>
  <p:sldIdLst>
    <p:sldId xmlns:r="http://schemas.openxmlformats.org/officeDocument/2006/relationships" id="256" r:id="R63c735f216ea4999"/>
    <p:sldId xmlns:r="http://schemas.openxmlformats.org/officeDocument/2006/relationships" id="257" r:id="R80905b2e63054b9b"/>
    <p:sldId xmlns:r="http://schemas.openxmlformats.org/officeDocument/2006/relationships" id="258" r:id="R380677922de44b01"/>
    <p:sldId xmlns:r="http://schemas.openxmlformats.org/officeDocument/2006/relationships" id="259" r:id="R3278c54072324a18"/>
    <p:sldId xmlns:r="http://schemas.openxmlformats.org/officeDocument/2006/relationships" id="260" r:id="Rff18187ccc454cdc"/>
    <p:sldId xmlns:r="http://schemas.openxmlformats.org/officeDocument/2006/relationships" id="261" r:id="R9487334102c44479"/>
    <p:sldId xmlns:r="http://schemas.openxmlformats.org/officeDocument/2006/relationships" id="262" r:id="R626eb46178c1416d"/>
    <p:sldId xmlns:r="http://schemas.openxmlformats.org/officeDocument/2006/relationships" id="263" r:id="Rcc8795359e864211"/>
    <p:sldId xmlns:r="http://schemas.openxmlformats.org/officeDocument/2006/relationships" id="264" r:id="Ra54b53dc6640403a"/>
    <p:sldId xmlns:r="http://schemas.openxmlformats.org/officeDocument/2006/relationships" id="265" r:id="Ree4c620670bc4480"/>
    <p:sldId xmlns:r="http://schemas.openxmlformats.org/officeDocument/2006/relationships" id="266" r:id="Rb612bf9651754f52"/>
    <p:sldId xmlns:r="http://schemas.openxmlformats.org/officeDocument/2006/relationships" id="267" r:id="R4a07a29e318b431b"/>
    <p:sldId xmlns:r="http://schemas.openxmlformats.org/officeDocument/2006/relationships" id="268" r:id="R05d3d0683cfe4001"/>
    <p:sldId xmlns:r="http://schemas.openxmlformats.org/officeDocument/2006/relationships" id="269" r:id="R04c622fc86e94903"/>
    <p:sldId xmlns:r="http://schemas.openxmlformats.org/officeDocument/2006/relationships" id="270" r:id="Ra23a04190ee74bf4"/>
    <p:sldId xmlns:r="http://schemas.openxmlformats.org/officeDocument/2006/relationships" id="271" r:id="R2bfaacdab2ae4480"/>
    <p:sldId xmlns:r="http://schemas.openxmlformats.org/officeDocument/2006/relationships" id="272" r:id="R1b71aa63ac30403d"/>
    <p:sldId xmlns:r="http://schemas.openxmlformats.org/officeDocument/2006/relationships" id="273" r:id="Re2d20474824f43e0"/>
    <p:sldId xmlns:r="http://schemas.openxmlformats.org/officeDocument/2006/relationships" id="274" r:id="R73342e692a3a49f9"/>
    <p:sldId xmlns:r="http://schemas.openxmlformats.org/officeDocument/2006/relationships" id="275" r:id="R1021eeee8db240cf"/>
    <p:sldId xmlns:r="http://schemas.openxmlformats.org/officeDocument/2006/relationships" id="276" r:id="R1f2262a6908a41c5"/>
    <p:sldId xmlns:r="http://schemas.openxmlformats.org/officeDocument/2006/relationships" id="277" r:id="R9f54d256bad64422"/>
    <p:sldId xmlns:r="http://schemas.openxmlformats.org/officeDocument/2006/relationships" id="278" r:id="Rac8dbed8924d49c6"/>
    <p:sldId xmlns:r="http://schemas.openxmlformats.org/officeDocument/2006/relationships" id="279" r:id="R265f4b13a5a343b1"/>
    <p:sldId xmlns:r="http://schemas.openxmlformats.org/officeDocument/2006/relationships" id="280" r:id="Ref5ed49805bd40c7"/>
    <p:sldId xmlns:r="http://schemas.openxmlformats.org/officeDocument/2006/relationships" id="281" r:id="R7179b66aaa944eea"/>
    <p:sldId xmlns:r="http://schemas.openxmlformats.org/officeDocument/2006/relationships" id="282" r:id="Rbce24227524046d9"/>
    <p:sldId xmlns:r="http://schemas.openxmlformats.org/officeDocument/2006/relationships" id="283" r:id="R714269e734384a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2e1d9b06947d0" /><Relationship Type="http://schemas.openxmlformats.org/officeDocument/2006/relationships/slideMaster" Target="/ppt/slideMasters/slideMaster1.xml" Id="R4bcbc50483f24f43" /><Relationship Type="http://schemas.openxmlformats.org/officeDocument/2006/relationships/notesMaster" Target="/ppt/notesMasters/notesMaster1.xml" Id="R28b29ecc78fc4f41" /><Relationship Type="http://schemas.openxmlformats.org/officeDocument/2006/relationships/presProps" Target="/ppt/presProps.xml" Id="R617f57203d354698" /><Relationship Type="http://schemas.openxmlformats.org/officeDocument/2006/relationships/tableStyles" Target="/ppt/tableStyles.xml" Id="R8827e9d9bcd3438e" /><Relationship Type="http://schemas.openxmlformats.org/officeDocument/2006/relationships/slide" Target="/ppt/slides/slide1.xml" Id="R63c735f216ea4999" /><Relationship Type="http://schemas.openxmlformats.org/officeDocument/2006/relationships/slide" Target="/ppt/slides/slide2.xml" Id="R80905b2e63054b9b" /><Relationship Type="http://schemas.openxmlformats.org/officeDocument/2006/relationships/slide" Target="/ppt/slides/slide3.xml" Id="R380677922de44b01" /><Relationship Type="http://schemas.openxmlformats.org/officeDocument/2006/relationships/slide" Target="/ppt/slides/slide4.xml" Id="R3278c54072324a18" /><Relationship Type="http://schemas.openxmlformats.org/officeDocument/2006/relationships/slide" Target="/ppt/slides/slide5.xml" Id="Rff18187ccc454cdc" /><Relationship Type="http://schemas.openxmlformats.org/officeDocument/2006/relationships/slide" Target="/ppt/slides/slide6.xml" Id="R9487334102c44479" /><Relationship Type="http://schemas.openxmlformats.org/officeDocument/2006/relationships/slide" Target="/ppt/slides/slide7.xml" Id="R626eb46178c1416d" /><Relationship Type="http://schemas.openxmlformats.org/officeDocument/2006/relationships/slide" Target="/ppt/slides/slide8.xml" Id="Rcc8795359e864211" /><Relationship Type="http://schemas.openxmlformats.org/officeDocument/2006/relationships/slide" Target="/ppt/slides/slide9.xml" Id="Ra54b53dc6640403a" /><Relationship Type="http://schemas.openxmlformats.org/officeDocument/2006/relationships/slide" Target="/ppt/slides/slide10.xml" Id="Ree4c620670bc4480" /><Relationship Type="http://schemas.openxmlformats.org/officeDocument/2006/relationships/slide" Target="/ppt/slides/slide11.xml" Id="Rb612bf9651754f52" /><Relationship Type="http://schemas.openxmlformats.org/officeDocument/2006/relationships/slide" Target="/ppt/slides/slide12.xml" Id="R4a07a29e318b431b" /><Relationship Type="http://schemas.openxmlformats.org/officeDocument/2006/relationships/slide" Target="/ppt/slides/slide13.xml" Id="R05d3d0683cfe4001" /><Relationship Type="http://schemas.openxmlformats.org/officeDocument/2006/relationships/slide" Target="/ppt/slides/slide14.xml" Id="R04c622fc86e94903" /><Relationship Type="http://schemas.openxmlformats.org/officeDocument/2006/relationships/slide" Target="/ppt/slides/slide15.xml" Id="Ra23a04190ee74bf4" /><Relationship Type="http://schemas.openxmlformats.org/officeDocument/2006/relationships/slide" Target="/ppt/slides/slide16.xml" Id="R2bfaacdab2ae4480" /><Relationship Type="http://schemas.openxmlformats.org/officeDocument/2006/relationships/slide" Target="/ppt/slides/slide17.xml" Id="R1b71aa63ac30403d" /><Relationship Type="http://schemas.openxmlformats.org/officeDocument/2006/relationships/slide" Target="/ppt/slides/slide18.xml" Id="Re2d20474824f43e0" /><Relationship Type="http://schemas.openxmlformats.org/officeDocument/2006/relationships/slide" Target="/ppt/slides/slide19.xml" Id="R73342e692a3a49f9" /><Relationship Type="http://schemas.openxmlformats.org/officeDocument/2006/relationships/slide" Target="/ppt/slides/slide20.xml" Id="R1021eeee8db240cf" /><Relationship Type="http://schemas.openxmlformats.org/officeDocument/2006/relationships/slide" Target="/ppt/slides/slide21.xml" Id="R1f2262a6908a41c5" /><Relationship Type="http://schemas.openxmlformats.org/officeDocument/2006/relationships/slide" Target="/ppt/slides/slide22.xml" Id="R9f54d256bad64422" /><Relationship Type="http://schemas.openxmlformats.org/officeDocument/2006/relationships/slide" Target="/ppt/slides/slide23.xml" Id="Rac8dbed8924d49c6" /><Relationship Type="http://schemas.openxmlformats.org/officeDocument/2006/relationships/slide" Target="/ppt/slides/slide24.xml" Id="R265f4b13a5a343b1" /><Relationship Type="http://schemas.openxmlformats.org/officeDocument/2006/relationships/slide" Target="/ppt/slides/slide25.xml" Id="Ref5ed49805bd40c7" /><Relationship Type="http://schemas.openxmlformats.org/officeDocument/2006/relationships/slide" Target="/ppt/slides/slide26.xml" Id="R7179b66aaa944eea" /><Relationship Type="http://schemas.openxmlformats.org/officeDocument/2006/relationships/slide" Target="/ppt/slides/slide27.xml" Id="Rbce24227524046d9" /><Relationship Type="http://schemas.openxmlformats.org/officeDocument/2006/relationships/slide" Target="/ppt/slides/slide28.xml" Id="R714269e73438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690902d66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f6a3f21734627" /><Relationship Type="http://schemas.openxmlformats.org/officeDocument/2006/relationships/notesMaster" Target="/ppt/notesMasters/notesMaster1.xml" Id="R284133da0146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982e0bd5534003" /><Relationship Type="http://schemas.openxmlformats.org/officeDocument/2006/relationships/notesMaster" Target="/ppt/notesMasters/notesMaster1.xml" Id="R9c987b2af534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c00bab091b434a" /><Relationship Type="http://schemas.openxmlformats.org/officeDocument/2006/relationships/notesMaster" Target="/ppt/notesMasters/notesMaster1.xml" Id="R2d272e39139c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e8993990f84e09" /><Relationship Type="http://schemas.openxmlformats.org/officeDocument/2006/relationships/notesMaster" Target="/ppt/notesMasters/notesMaster1.xml" Id="Rb491ab40f2c0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643a8c8cd4845" /><Relationship Type="http://schemas.openxmlformats.org/officeDocument/2006/relationships/notesMaster" Target="/ppt/notesMasters/notesMaster1.xml" Id="R98c7bc06fc294e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f01c0f72a54074" /><Relationship Type="http://schemas.openxmlformats.org/officeDocument/2006/relationships/notesMaster" Target="/ppt/notesMasters/notesMaster1.xml" Id="R6a80a8ce4094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4def3389c94eb7" /><Relationship Type="http://schemas.openxmlformats.org/officeDocument/2006/relationships/notesMaster" Target="/ppt/notesMasters/notesMaster1.xml" Id="Rdb9bdf3515874c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c1baef1d0b49c2" /><Relationship Type="http://schemas.openxmlformats.org/officeDocument/2006/relationships/notesMaster" Target="/ppt/notesMasters/notesMaster1.xml" Id="Rf9ac6d950a8644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d44aa614484178" /><Relationship Type="http://schemas.openxmlformats.org/officeDocument/2006/relationships/notesMaster" Target="/ppt/notesMasters/notesMaster1.xml" Id="Rfd54ef47bdf84d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ca762453d54fd9" /><Relationship Type="http://schemas.openxmlformats.org/officeDocument/2006/relationships/notesMaster" Target="/ppt/notesMasters/notesMaster1.xml" Id="R0b7ce8a7f9f0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141ee8d0ac436c" /><Relationship Type="http://schemas.openxmlformats.org/officeDocument/2006/relationships/notesMaster" Target="/ppt/notesMasters/notesMaster1.xml" Id="Ree890ce4c8234c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1689ac8ac24cab" /><Relationship Type="http://schemas.openxmlformats.org/officeDocument/2006/relationships/notesMaster" Target="/ppt/notesMasters/notesMaster1.xml" Id="R69469debf20f46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a2b8a581864000" /><Relationship Type="http://schemas.openxmlformats.org/officeDocument/2006/relationships/notesMaster" Target="/ppt/notesMasters/notesMaster1.xml" Id="R8a08fe3e986046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7c2aed42747e4" /><Relationship Type="http://schemas.openxmlformats.org/officeDocument/2006/relationships/notesMaster" Target="/ppt/notesMasters/notesMaster1.xml" Id="Rafbd99c1d9b444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c123bfe8a54c2b" /><Relationship Type="http://schemas.openxmlformats.org/officeDocument/2006/relationships/notesMaster" Target="/ppt/notesMasters/notesMaster1.xml" Id="R031183df0a8b4e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683a2959c04707" /><Relationship Type="http://schemas.openxmlformats.org/officeDocument/2006/relationships/notesMaster" Target="/ppt/notesMasters/notesMaster1.xml" Id="Rc93b5f06a7d84d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91ff9c6f94836" /><Relationship Type="http://schemas.openxmlformats.org/officeDocument/2006/relationships/notesMaster" Target="/ppt/notesMasters/notesMaster1.xml" Id="Rfb3bdfd99a1a4d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41a041dd22460a" /><Relationship Type="http://schemas.openxmlformats.org/officeDocument/2006/relationships/notesMaster" Target="/ppt/notesMasters/notesMaster1.xml" Id="R83140a7940fe49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d23dffcb2541bf" /><Relationship Type="http://schemas.openxmlformats.org/officeDocument/2006/relationships/notesMaster" Target="/ppt/notesMasters/notesMaster1.xml" Id="R87e81a1df6d940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3b70dc7f484dcf" /><Relationship Type="http://schemas.openxmlformats.org/officeDocument/2006/relationships/notesMaster" Target="/ppt/notesMasters/notesMaster1.xml" Id="R411b9dc1255f40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2441fad0084a6b" /><Relationship Type="http://schemas.openxmlformats.org/officeDocument/2006/relationships/notesMaster" Target="/ppt/notesMasters/notesMaster1.xml" Id="Rcdff1285076c44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8d920818d3411d" /><Relationship Type="http://schemas.openxmlformats.org/officeDocument/2006/relationships/notesMaster" Target="/ppt/notesMasters/notesMaster1.xml" Id="Rb0b8f6f03a0044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aa563972214e09" /><Relationship Type="http://schemas.openxmlformats.org/officeDocument/2006/relationships/notesMaster" Target="/ppt/notesMasters/notesMaster1.xml" Id="R9349235b423c4d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7b5df4c6dd949b0" /><Relationship Type="http://schemas.openxmlformats.org/officeDocument/2006/relationships/notesMaster" Target="/ppt/notesMasters/notesMaster1.xml" Id="Red9b56b41541419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cff515a99e442d" /><Relationship Type="http://schemas.openxmlformats.org/officeDocument/2006/relationships/notesMaster" Target="/ppt/notesMasters/notesMaster1.xml" Id="Ra26fac68386c49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c480f533af45da" /><Relationship Type="http://schemas.openxmlformats.org/officeDocument/2006/relationships/notesMaster" Target="/ppt/notesMasters/notesMaster1.xml" Id="R6cfc23c8fc424c9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4d66fce95d4a10" /><Relationship Type="http://schemas.openxmlformats.org/officeDocument/2006/relationships/notesMaster" Target="/ppt/notesMasters/notesMaster1.xml" Id="R61fa3dd6f18b482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1da096566b48b7" /><Relationship Type="http://schemas.openxmlformats.org/officeDocument/2006/relationships/notesMaster" Target="/ppt/notesMasters/notesMaster1.xml" Id="Rdc8b69bdb1d240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title and authors from thesis/reference/original_thesis.docx. Expanded work includes neural baselines, transfer and LLMs.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preserved thesis, expanded introduction and results. Predictive relevance refers to a masking proxy, not causal truth.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RQ numbering preserved. RQ4 is historical LIME/TreeSHAP agreement. The LLM classification and explanation study is a separate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of this study, not an exhaustive claim of novelty. Do not claim the first systematic study. The unverified historical reference [28] is not used to substantiate novelty.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thesis/manuscript.md, expanded methods. Cleaned release sizes differ from per-fit sampling caps. Attack taxonomies are not assumed equivalent.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expanded methods. Signed-log float32 representation and consistent global feature-group hashing. No chronological split. Caps apply per dataset and seed, not the full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 families x two datasets x two tasks x three seeds = 84 fits. Binary models evaluate both domains and native multiclass models evaluate their own domain. Feature CNN convolves tabular feature positions, not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results/study/xai/aggregate.csv and expanded methods. 14 binary models at training seed 42 x two domains. Fix the original predicted class. Median masking, absolute feature ranking, k=1..5. Bootstrap intervals use 5,000 stratified resamples conditional on the fitted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0.009066197183791503; RandomForest 0.006065935924989893; XGBoost 0.004995868585582929; SoftVoting 0.008925032539188563; ShallowMLP 0.17219511122690373; DeepMLP 0.009334764037067624; FeatureCNN 0.009976016759947309.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0.014404769336826667; RandomForest 0.0028860869072894427; XGBoost 0.002112966418252044; SoftVoting 0.010316328885479382; ShallowMLP 0.003820579210452952; DeepMLP 0.001305051347687204; FeatureCNN 0.014551085107464026.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0.11528164403090586; RandomForest 0.004796805770502372; XGBoost 0.004970545330764434; SoftVoting 0.00576485434017666; ShallowMLP 0.02827360985901998; DeepMLP 0.025593145845505986; FeatureCNN 0.035863280179991366.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0.03158189394582218; RandomForest 0.0005955645248190199; XGBoost 0.0232872598593301; SoftVoting 0.011181062250329759; ShallowMLP 0.09166378536828515; DeepMLP 0.02562501840034948; FeatureCNN 0.003121014155962509.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results/study/xai/aggregate.csv. Twenty balanced cases, three explainer seeds, training seed 42. Stability describes repeatability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results/study/xai/aggregate.csv. Positive advantage means greater fixed-class probability removal than matched random masks. Intervals conditional on one fit and 20 cases. Values do not establish causal feature importance.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 UNSW to IDS2018: median absolute -0.1338, mean absolute -0.1247, median signed 0.0795, mean signed 0.2215. Source: expanded masking sensitivity section. 112 summary cells, 2,240 cases. Out-of-distribution perturbations remain a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results/study/audit and preserved report historical audit. Spearman correlations: DT .203684, RF .208214, XGB .258441. Maximum aggregate error 5.17e-7. Unmasked replay error 4.44e-16. Exact historical masks cannot be replayed because rankings were not saved. Overlap limits generalization claims. An inverse aggregate ordering alone is not evidence of fabricated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thesis RQ4 results, preserved report. Historical protocol only. Do not generalize these values to the expanded neural fits or target-domain experiments. No new neural SHAP or TOPSIS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results/study/llm and expanded LLM methods. Local instruction models, four-example prompt, constrained classification scoring. CPU float32, two threads, maximum 192 generated tokens for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expanded LLM results. Qwen and Smol predict Benign throughout, TinyLlama predicts Attack. Macro-F1 1/3. This is a result for this prompt, scoring procedure and these small models, not every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results/study/llm/masking_coverage.csv. Validity requires usable feature selections under the saved protocol. Conditional masking performance cannot substitute for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results/study/llm/masking_coverage.csv. Validity requires usable feature selections under the saved protocol. Conditional masking performance cannot substitute for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RQ1–RQ3 using the expanded evidence and RQ4 using historical agreement. Explain that a masking proxy cannot prove causal faithfulness. Avoid treating seed-42 case intervals as uncertainty across training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Remaining scope includes per-attack-class explanation rank drift, expanded explainer comparisons, and realistic deployment validation. No causal ground truth or analyst study in this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Discussion. Main defense ends here. The following slides support examiner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0.047693142930470986; RandomForest 0.035371234882619944; XGBoost 0.04669684533074675; SoftVoting 0.02472046117464253; ShallowMLP 0.043681959742955224; DeepMLP 0.04868298781779598; FeatureCNN 0.002033069549416719.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results/study/across_seed_summary.csv. Mean across seeds 7, 42, 1337. Individual SD values: DecisionTree 0.03366153565428263; RandomForest 0.03576606494204943; XGBoost 0.035547511085713836; SoftVoting 0.024476531260417572; ShallowMLP 0.10406992982841348; DeepMLP 0.1121817133935734; FeatureCNN 0.04605505259775461. Chart shows means only. Full report contains separate SD figures. Same feature-group protocol across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expanded methods. Learning rate .001, weight decay .0001, class-weighted cross entropy, early stopping on unweighted source validation loss. The CNN is not a temporal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project sources: thesis/reference/original_thesis.docx; output/pdf/thesis_xai_ids_preserved.pdf; thesis/manuscript.md (expanded numerical narrative only, original RQ4 numbering retained in deck). Complete bibliography in preserved report. Historical reference [28] remains unverified and supports no presentation claim. Repository: https://github.com/mehedihasan722/Thesis-Defense-Project-XAI-ids-Update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1674c99a8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075710b17466e" /><Relationship Type="http://schemas.openxmlformats.org/officeDocument/2006/relationships/slideLayout" Target="/ppt/slideLayouts/slideLayout1.xml" Id="Ra8fe119eb6da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e119eb6da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05240498149e6" /><Relationship Type="http://schemas.openxmlformats.org/officeDocument/2006/relationships/notesSlide" Target="/ppt/notesSlides/notesSlide1.xml" Id="R4940b10487e94a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884d8c4f4522" /><Relationship Type="http://schemas.openxmlformats.org/officeDocument/2006/relationships/notesSlide" Target="/ppt/notesSlides/notesSlide2.xml" Id="R141bd02f54d2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132487724898" /><Relationship Type="http://schemas.openxmlformats.org/officeDocument/2006/relationships/notesSlide" Target="/ppt/notesSlides/notesSlide3.xml" Id="R91fad39a4122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4bec415ae487d" /><Relationship Type="http://schemas.openxmlformats.org/officeDocument/2006/relationships/notesSlide" Target="/ppt/notesSlides/notesSlide4.xml" Id="R4ce4f3101fb24c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8e91c30144c7f" /><Relationship Type="http://schemas.openxmlformats.org/officeDocument/2006/relationships/notesSlide" Target="/ppt/notesSlides/notesSlide5.xml" Id="R541fa502972d4f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ea07e56244a6f" /><Relationship Type="http://schemas.openxmlformats.org/officeDocument/2006/relationships/notesSlide" Target="/ppt/notesSlides/notesSlide6.xml" Id="Rd6f904ad653749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4ca4c66d04e71" /><Relationship Type="http://schemas.openxmlformats.org/officeDocument/2006/relationships/notesSlide" Target="/ppt/notesSlides/notesSlide7.xml" Id="Rfff022013004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233fb31f14c68" /><Relationship Type="http://schemas.openxmlformats.org/officeDocument/2006/relationships/notesSlide" Target="/ppt/notesSlides/notesSlide8.xml" Id="R7b9d5862640243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8d8159a9b4c4e" /><Relationship Type="http://schemas.openxmlformats.org/officeDocument/2006/relationships/chart" Target="/ppt/slides/charts/chart1.xml" Id="R147dd27444b748f5" /><Relationship Type="http://schemas.openxmlformats.org/officeDocument/2006/relationships/notesSlide" Target="/ppt/notesSlides/notesSlide9.xml" Id="R82cf9b563e1544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9a97246f8454e" /><Relationship Type="http://schemas.openxmlformats.org/officeDocument/2006/relationships/chart" Target="/ppt/slides/charts/chart2.xml" Id="R5c76f69f93d844ed" /><Relationship Type="http://schemas.openxmlformats.org/officeDocument/2006/relationships/notesSlide" Target="/ppt/notesSlides/notesSlide10.xml" Id="R6c973e60c1eb41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6c8efc5f46ab" /><Relationship Type="http://schemas.openxmlformats.org/officeDocument/2006/relationships/chart" Target="/ppt/slides/charts/chart3.xml" Id="R4eeb5dac2bfa4a5e" /><Relationship Type="http://schemas.openxmlformats.org/officeDocument/2006/relationships/notesSlide" Target="/ppt/notesSlides/notesSlide11.xml" Id="R5224ff282a8040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7288425ad4b0c" /><Relationship Type="http://schemas.openxmlformats.org/officeDocument/2006/relationships/chart" Target="/ppt/slides/charts/chart4.xml" Id="R1dbebd522b194d18" /><Relationship Type="http://schemas.openxmlformats.org/officeDocument/2006/relationships/notesSlide" Target="/ppt/notesSlides/notesSlide12.xml" Id="R652e1bdd9da54c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c3a6554cb41d5" /><Relationship Type="http://schemas.openxmlformats.org/officeDocument/2006/relationships/chart" Target="/ppt/slides/charts/chart5.xml" Id="Rc575da3d90644f03" /><Relationship Type="http://schemas.openxmlformats.org/officeDocument/2006/relationships/notesSlide" Target="/ppt/notesSlides/notesSlide13.xml" Id="Rf9b9c62211834c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379ba4ec2480a" /><Relationship Type="http://schemas.openxmlformats.org/officeDocument/2006/relationships/chart" Target="/ppt/slides/charts/chart6.xml" Id="R8e4a019bb30b45c6" /><Relationship Type="http://schemas.openxmlformats.org/officeDocument/2006/relationships/notesSlide" Target="/ppt/notesSlides/notesSlide14.xml" Id="R205eb3f6130649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31f85be6d4d04" /><Relationship Type="http://schemas.openxmlformats.org/officeDocument/2006/relationships/notesSlide" Target="/ppt/notesSlides/notesSlide15.xml" Id="Rb86e78850b2243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0b5e86ae9418f" /><Relationship Type="http://schemas.openxmlformats.org/officeDocument/2006/relationships/notesSlide" Target="/ppt/notesSlides/notesSlide16.xml" Id="R051d41c0becf4b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45909e5814db9" /><Relationship Type="http://schemas.openxmlformats.org/officeDocument/2006/relationships/notesSlide" Target="/ppt/notesSlides/notesSlide17.xml" Id="R1efded2153f446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181eafa9d4823" /><Relationship Type="http://schemas.openxmlformats.org/officeDocument/2006/relationships/notesSlide" Target="/ppt/notesSlides/notesSlide18.xml" Id="R528761ebfd724d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6d3e3340459e" /><Relationship Type="http://schemas.openxmlformats.org/officeDocument/2006/relationships/chart" Target="/ppt/slides/charts/chart7.xml" Id="R3562df61f8dc4815" /><Relationship Type="http://schemas.openxmlformats.org/officeDocument/2006/relationships/notesSlide" Target="/ppt/notesSlides/notesSlide19.xml" Id="Rbeccaa390b4245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2f31e74494df6" /><Relationship Type="http://schemas.openxmlformats.org/officeDocument/2006/relationships/chart" Target="/ppt/slides/charts/chart8.xml" Id="Rbfaf5411cc394a12" /><Relationship Type="http://schemas.openxmlformats.org/officeDocument/2006/relationships/notesSlide" Target="/ppt/notesSlides/notesSlide20.xml" Id="R4ecec3bd1e5643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18eb13514d6b" /><Relationship Type="http://schemas.openxmlformats.org/officeDocument/2006/relationships/chart" Target="/ppt/slides/charts/chart9.xml" Id="R3ee8ff493af04b03" /><Relationship Type="http://schemas.openxmlformats.org/officeDocument/2006/relationships/notesSlide" Target="/ppt/notesSlides/notesSlide21.xml" Id="R01d5f5037a8949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ea4b8429a4c29" /><Relationship Type="http://schemas.openxmlformats.org/officeDocument/2006/relationships/notesSlide" Target="/ppt/notesSlides/notesSlide22.xml" Id="R87f53b2241f748c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5ee88e8ec4ce9" /><Relationship Type="http://schemas.openxmlformats.org/officeDocument/2006/relationships/notesSlide" Target="/ppt/notesSlides/notesSlide23.xml" Id="R0786782a779340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3f371deb4455d" /><Relationship Type="http://schemas.openxmlformats.org/officeDocument/2006/relationships/notesSlide" Target="/ppt/notesSlides/notesSlide24.xml" Id="R3c8816a050cf4f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cdf91420b4862" /><Relationship Type="http://schemas.openxmlformats.org/officeDocument/2006/relationships/chart" Target="/ppt/slides/charts/chart10.xml" Id="Rbfab90b5ea294c38" /><Relationship Type="http://schemas.openxmlformats.org/officeDocument/2006/relationships/notesSlide" Target="/ppt/notesSlides/notesSlide25.xml" Id="Rb8be7821acfe44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0683f50042a8" /><Relationship Type="http://schemas.openxmlformats.org/officeDocument/2006/relationships/chart" Target="/ppt/slides/charts/chart11.xml" Id="Rb635f812a070453a" /><Relationship Type="http://schemas.openxmlformats.org/officeDocument/2006/relationships/notesSlide" Target="/ppt/notesSlides/notesSlide26.xml" Id="R0540e43ca2bc4c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b786b7ad34e2d" /><Relationship Type="http://schemas.openxmlformats.org/officeDocument/2006/relationships/notesSlide" Target="/ppt/notesSlides/notesSlide27.xml" Id="Rb8f21bf0208240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2040f2564120" /><Relationship Type="http://schemas.openxmlformats.org/officeDocument/2006/relationships/notesSlide" Target="/ppt/notesSlides/notesSlide28.xml" Id="R7e04f963cd9e4b9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0.966201</c:v>
                </c:pt>
                <c:pt idx="1">
                  <c:v>0.970096</c:v>
                </c:pt>
                <c:pt idx="2">
                  <c:v>0.975027</c:v>
                </c:pt>
                <c:pt idx="3">
                  <c:v>0.967897</c:v>
                </c:pt>
                <c:pt idx="4">
                  <c:v>0.864295</c:v>
                </c:pt>
                <c:pt idx="5">
                  <c:v>0.962679</c:v>
                </c:pt>
                <c:pt idx="6">
                  <c:v>0.962122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0.94866</c:v>
                </c:pt>
                <c:pt idx="1">
                  <c:v>0.985209</c:v>
                </c:pt>
                <c:pt idx="2">
                  <c:v>0.984998</c:v>
                </c:pt>
                <c:pt idx="3">
                  <c:v>0.978489</c:v>
                </c:pt>
                <c:pt idx="4">
                  <c:v>0.973199</c:v>
                </c:pt>
                <c:pt idx="5">
                  <c:v>0.984218</c:v>
                </c:pt>
                <c:pt idx="6">
                  <c:v>0.975451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0.511758</c:v>
                </c:pt>
                <c:pt idx="1">
                  <c:v>0.436624</c:v>
                </c:pt>
                <c:pt idx="2">
                  <c:v>0.462947</c:v>
                </c:pt>
                <c:pt idx="3">
                  <c:v>0.444514</c:v>
                </c:pt>
                <c:pt idx="4">
                  <c:v>0.457482</c:v>
                </c:pt>
                <c:pt idx="5">
                  <c:v>0.436423</c:v>
                </c:pt>
                <c:pt idx="6">
                  <c:v>0.427407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0.462416</c:v>
                </c:pt>
                <c:pt idx="1">
                  <c:v>0.487553</c:v>
                </c:pt>
                <c:pt idx="2">
                  <c:v>0.515659</c:v>
                </c:pt>
                <c:pt idx="3">
                  <c:v>0.509509</c:v>
                </c:pt>
                <c:pt idx="4">
                  <c:v>0.443366</c:v>
                </c:pt>
                <c:pt idx="5">
                  <c:v>0.516442</c:v>
                </c:pt>
                <c:pt idx="6">
                  <c:v>0.485328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Jaccard@5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0.596032</c:v>
                </c:pt>
                <c:pt idx="1">
                  <c:v>0.922222</c:v>
                </c:pt>
                <c:pt idx="2">
                  <c:v>0.570635</c:v>
                </c:pt>
                <c:pt idx="3">
                  <c:v>0.805556</c:v>
                </c:pt>
                <c:pt idx="4">
                  <c:v>0.883333</c:v>
                </c:pt>
                <c:pt idx="5">
                  <c:v>0.780952</c:v>
                </c:pt>
                <c:pt idx="6">
                  <c:v>0.760317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Masking advantage</c:v>
          </c:tx>
          <c:spPr>
            <a:solidFill xmlns:a="http://schemas.openxmlformats.org/drawingml/2006/main">
              <a:srgbClr val="234F3A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0.03944</c:v>
                </c:pt>
                <c:pt idx="1">
                  <c:v>-0.133832</c:v>
                </c:pt>
                <c:pt idx="2">
                  <c:v>0.026754</c:v>
                </c:pt>
                <c:pt idx="3">
                  <c:v>-0.039525</c:v>
                </c:pt>
                <c:pt idx="4">
                  <c:v>0.140014</c:v>
                </c:pt>
                <c:pt idx="5">
                  <c:v>0.60575</c:v>
                </c:pt>
                <c:pt idx="6">
                  <c:v>0.519941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-0.25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Data'!$A$2:$A$4</c:f>
              <c:strCache>
                <c:ptCount val="3"/>
                <c:pt idx="0">
                  <c:v>Qwen2.5</c:v>
                </c:pt>
                <c:pt idx="1">
                  <c:v>TinyLlama</c:v>
                </c:pt>
                <c:pt idx="2">
                  <c:v>SmolLM2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0.333333</c:v>
                </c:pt>
                <c:pt idx="1">
                  <c:v>0.333333</c:v>
                </c:pt>
                <c:pt idx="2">
                  <c:v>0.333333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 outputs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Data'!$A$2:$A$4</c:f>
              <c:strCache>
                <c:ptCount val="3"/>
                <c:pt idx="0">
                  <c:v>Qwen</c:v>
                </c:pt>
                <c:pt idx="1">
                  <c:v>TinyLlama</c:v>
                </c:pt>
                <c:pt idx="2">
                  <c:v>SmolLM2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 outputs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Data'!$A$2:$A$4</c:f>
              <c:strCache>
                <c:ptCount val="3"/>
                <c:pt idx="0">
                  <c:v>Qwen</c:v>
                </c:pt>
                <c:pt idx="1">
                  <c:v>TinyLlama</c:v>
                </c:pt>
                <c:pt idx="2">
                  <c:v>SmolLM2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58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0.523028</c:v>
                </c:pt>
                <c:pt idx="1">
                  <c:v>0.546743</c:v>
                </c:pt>
                <c:pt idx="2">
                  <c:v>0.495152</c:v>
                </c:pt>
                <c:pt idx="3">
                  <c:v>0.537922</c:v>
                </c:pt>
                <c:pt idx="4">
                  <c:v>0.386476</c:v>
                </c:pt>
                <c:pt idx="5">
                  <c:v>0.400606</c:v>
                </c:pt>
                <c:pt idx="6">
                  <c:v>0.407409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34F3A"/>
            </a:solidFill>
          </c:spPr>
          <c:cat>
            <c:strRef>
              <c:f>'Chart Data'!$A$2:$A$8</c:f>
              <c:strCache>
                <c:ptCount val="7"/>
                <c:pt idx="0">
                  <c:v>Decision tree</c:v>
                </c:pt>
                <c:pt idx="1">
                  <c:v>Random forest</c:v>
                </c:pt>
                <c:pt idx="2">
                  <c:v>XGBoost</c:v>
                </c:pt>
                <c:pt idx="3">
                  <c:v>Soft voting</c:v>
                </c:pt>
                <c:pt idx="4">
                  <c:v>Shallow MLP</c:v>
                </c:pt>
                <c:pt idx="5">
                  <c:v>Deep MLP</c:v>
                </c:pt>
                <c:pt idx="6">
                  <c:v>Feature CNN</c:v>
                </c:pt>
              </c:strCache>
            </c:strRef>
          </c:cat>
          <c:val>
            <c:numRef>
              <c:f>'Chart Data'!$B$2:$B$8</c:f>
              <c:numCache>
                <c:formatCode>0.000</c:formatCode>
                <c:ptCount val="7"/>
                <c:pt idx="0">
                  <c:v>0.677509</c:v>
                </c:pt>
                <c:pt idx="1">
                  <c:v>0.71785</c:v>
                </c:pt>
                <c:pt idx="2">
                  <c:v>0.705952</c:v>
                </c:pt>
                <c:pt idx="3">
                  <c:v>0.711064</c:v>
                </c:pt>
                <c:pt idx="4">
                  <c:v>0.538362</c:v>
                </c:pt>
                <c:pt idx="5">
                  <c:v>0.573869</c:v>
                </c:pt>
                <c:pt idx="6">
                  <c:v>0.543784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92D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2"/>
        </a:solidFill>
      </c:spPr>
    </c:plotArea>
    <c:plotVisOnly val="1"/>
  </c:chart>
  <c:spPr>
    <a:solidFill xmlns:a="http://schemas.openxmlformats.org/drawingml/2006/main">
      <a:srgbClr val="F7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E8F26-263A-4005-A0A3-96F71AC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Evaluating the Reliability of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Explainable AI in Ensemble-Based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Intrusion Detection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F926B-18BB-44D4-9DBF-2FAA2A7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E4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E263C-F768-4248-B7C3-15D4D8A4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FE0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E0C9"/>
                </a:solidFill>
                <a:latin typeface="Arial"/>
                <a:ea typeface="Arial"/>
                <a:cs typeface="Arial"/>
              </a:rPr>
              <a:t>THESIS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0FCAE-AF88-4E16-84C1-BB0D3B9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Mehedi Hasan (C213061)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Sazzadul Islam (C213066R)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3A09-2070-48A3-8217-0A66887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9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9D8"/>
                </a:solidFill>
                <a:latin typeface="Arial"/>
                <a:ea typeface="Arial"/>
                <a:cs typeface="Arial"/>
              </a:rPr>
              <a:t>Supervisor: Mr. Md. Mahiuddin, Associate Professor</a:t>
            </a:r>
          </a:p>
          <a:p xmlns:a="http://schemas.openxmlformats.org/drawingml/2006/main">
            <a:pPr>
              <a:defRPr sz="1800" b="0">
                <a:solidFill>
                  <a:srgbClr val="DCE9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9D8"/>
                </a:solidFill>
                <a:latin typeface="Arial"/>
                <a:ea typeface="Arial"/>
                <a:cs typeface="Arial"/>
              </a:rPr>
              <a:t>Department of CSE</a:t>
            </a:r>
          </a:p>
          <a:p xmlns:a="http://schemas.openxmlformats.org/drawingml/2006/main">
            <a:pPr>
              <a:defRPr sz="1800" b="0">
                <a:solidFill>
                  <a:srgbClr val="DCE9D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9D8"/>
                </a:solidFill>
                <a:latin typeface="Arial"/>
                <a:ea typeface="Arial"/>
                <a:cs typeface="Arial"/>
              </a:rPr>
              <a:t>International Islamic University Chittagong</a:t>
            </a:r>
          </a:p>
        </p:txBody>
      </p:sp>
    </p:spTree>
    <p:extLst>
      <p:ext uri="{BB962C8B-B14F-4D97-AF65-F5344CB8AC3E}">
        <p14:creationId xmlns:p14="http://schemas.microsoft.com/office/powerpoint/2010/main" val="1764154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19C04-DD3D-4FB2-AAD0-3536F3C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The 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72DB4-AA20-463C-99E0-E79D056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0A95A-B92C-4919-AC44-AC23010C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An accurate detector can still produce unreliable explanations.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18E96-97EF-48FE-8312-B81B3EA6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Repeated rankings may look consistent while masking tests show little predictive relevance.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17913-63A0-49F4-8DCF-23EF06B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A new traffic domain can change both detection and explanation behavior.</a:t>
            </a:r>
          </a:p>
        </p:txBody>
      </p:sp>
    </p:spTree>
    <p:extLst>
      <p:ext uri="{BB962C8B-B14F-4D97-AF65-F5344CB8AC3E}">
        <p14:creationId xmlns:p14="http://schemas.microsoft.com/office/powerpoint/2010/main" val="379033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DF975-BB3B-4221-8613-3E2076F7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30F4F-56BF-412F-A86D-DCB4727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B154B-3385-4F95-9FFA-0253704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RQ1  How repeatable are local explanations?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39533-8B17-4DE1-8316-535FAE60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RQ2  How faithful are they under controlled masking tests?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C9AD4-AE5D-417C-A090-3552158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RQ3  How do detection and explanations transfer?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321F9-3F79-46A4-8FDB-0F36A398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RQ4  How much do independent explainers agree?</a:t>
            </a:r>
          </a:p>
        </p:txBody>
      </p:sp>
    </p:spTree>
    <p:extLst>
      <p:ext uri="{BB962C8B-B14F-4D97-AF65-F5344CB8AC3E}">
        <p14:creationId xmlns:p14="http://schemas.microsoft.com/office/powerpoint/2010/main" val="1871849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1A0CC-E618-40B8-8998-7946633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Research gap and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CAC28-A313-497C-A035-ECD1130F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291E0-2EDD-4026-881D-B0BF8874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Evaluate explanation reliability separately from detection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E5068-C07F-4D02-BDD0-D3D8ED0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Compare repeatability with a matched random masking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8C7C6-383A-4DBC-83B2-39163BF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Test frozen detectors on a second dataset and include neural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A501A-42E4-49CC-BB53-5AD5C33F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Report LLM classification failures and explanation coverage.</a:t>
            </a:r>
          </a:p>
        </p:txBody>
      </p:sp>
    </p:spTree>
    <p:extLst>
      <p:ext uri="{BB962C8B-B14F-4D97-AF65-F5344CB8AC3E}">
        <p14:creationId xmlns:p14="http://schemas.microsoft.com/office/powerpoint/2010/main" val="443055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71A0C-F442-47BC-A116-0F3339E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Datasets and shared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D699C-26E4-43A4-9016-0954DCE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6AAA6-F4F8-4747-A634-90A05EBF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NF-UNSW-NB15-v2: 1,986,745 cleaned 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EFD99-A62C-48A5-A6ED-4A015BC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NF-CSE-CIC-IDS2018-v2: 17,129,715 cleaned 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BBA97-C693-4862-A476-77553FD4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39 shared numeric features after removing identifiers and targets.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22948-B87D-41F0-9BB0-B59EDBEE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Binary transfer uses compatible labels. Multiclass evaluation stays within each dataset.</a:t>
            </a:r>
          </a:p>
        </p:txBody>
      </p:sp>
    </p:spTree>
    <p:extLst>
      <p:ext uri="{BB962C8B-B14F-4D97-AF65-F5344CB8AC3E}">
        <p14:creationId xmlns:p14="http://schemas.microsoft.com/office/powerpoint/2010/main" val="121423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E192C-6CFA-4B01-BB9D-486238B3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4E0E3-31B0-4C12-A819-D7BDC1B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AF503-9A08-41DA-9C5C-E007956B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Group identical feature vectors before the 70/15/15 split.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FE78D-1793-433B-BD29-C04B7E3D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Cap training at 200,000 flows, validation at 40,000 and test at 80,000.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38F4E-F254-4355-A850-F010390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Repeat detector fitting with seeds 7, 42 and 1337.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470C6-7975-44E6-AFA5-6BD092D4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Freeze preprocessing and the source model for target evaluation.</a:t>
            </a:r>
          </a:p>
        </p:txBody>
      </p:sp>
    </p:spTree>
    <p:extLst>
      <p:ext uri="{BB962C8B-B14F-4D97-AF65-F5344CB8AC3E}">
        <p14:creationId xmlns:p14="http://schemas.microsoft.com/office/powerpoint/2010/main" val="68743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DC27D-6099-4FC8-AA07-AE47630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5322-5C3B-4901-BDB4-BC47017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F1AE4-0465-4887-A5EE-7B88A2B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Tree models: decision tree, random forest and 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0F459-21AC-485A-BA46-BC171885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Ensemble: soft voting over the three tree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87E20-FA49-4821-BF58-EAFA1B5C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Neural models: shallow MLP, deep MLP and feature-axis CNN.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50990-05F8-4C69-A61A-07CF16E3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84 fitted configurations and 126 evaluation cells.</a:t>
            </a:r>
          </a:p>
        </p:txBody>
      </p:sp>
    </p:spTree>
    <p:extLst>
      <p:ext uri="{BB962C8B-B14F-4D97-AF65-F5344CB8AC3E}">
        <p14:creationId xmlns:p14="http://schemas.microsoft.com/office/powerpoint/2010/main" val="3063457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763A2-9DD7-4ADC-828D-B86D5EE5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Explanation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61FD9-72AF-4E53-8C63-8127A44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11523-ED12-44F8-A261-EE0EE799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LIME: 20 balanced unique feature groups per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B4748-6D43-49B0-A2C3-C72927E1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Three explainer seeds and 5,000 perturbations per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77185-2CB8-4C9E-875D-7D565E4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Jaccard@5 measures overlap between repeated feature 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88285-0802-4F07-A6F1-EEBA34FB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Masking advantage compares selected features with random masks.</a:t>
            </a:r>
          </a:p>
        </p:txBody>
      </p:sp>
    </p:spTree>
    <p:extLst>
      <p:ext uri="{BB962C8B-B14F-4D97-AF65-F5344CB8AC3E}">
        <p14:creationId xmlns:p14="http://schemas.microsoft.com/office/powerpoint/2010/main" val="649711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670B2-D56E-4C8E-914C-21095F7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Binary detection on UNSW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A3EB4-4877-4F4A-9409-EB877A6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7dd27444b748f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CFCFC-9824-4FCB-B014-DBD5EE9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Macro-F1 means across three seeds. XGBoost leads at 0.9750.</a:t>
            </a:r>
          </a:p>
        </p:txBody>
      </p:sp>
    </p:spTree>
    <p:extLst>
      <p:ext uri="{BB962C8B-B14F-4D97-AF65-F5344CB8AC3E}">
        <p14:creationId xmlns:p14="http://schemas.microsoft.com/office/powerpoint/2010/main" val="950064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DFDB6-4A20-4B51-ABDE-32900248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Binary detection on IDS2018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EDD41-D85F-4D56-9027-54B5BB77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76f69f93d844e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0C3C2-03A8-4609-B365-DF9B9CB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Macro-F1 means across three seeds. Random forest leads at 0.9852.</a:t>
            </a:r>
          </a:p>
        </p:txBody>
      </p:sp>
    </p:spTree>
    <p:extLst>
      <p:ext uri="{BB962C8B-B14F-4D97-AF65-F5344CB8AC3E}">
        <p14:creationId xmlns:p14="http://schemas.microsoft.com/office/powerpoint/2010/main" val="332711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65906-F80E-43B0-B3E0-852DF308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Transfer from UNSW to IDS2018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6FECE-4A8C-4E5D-9C4D-D1728B2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b5dac2bfa4a5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15057-7417-468B-83DD-BE37DD24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Frozen binary models. All seven families deteriorate on the target domain.</a:t>
            </a:r>
          </a:p>
        </p:txBody>
      </p:sp>
    </p:spTree>
    <p:extLst>
      <p:ext uri="{BB962C8B-B14F-4D97-AF65-F5344CB8AC3E}">
        <p14:creationId xmlns:p14="http://schemas.microsoft.com/office/powerpoint/2010/main" val="949073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E83C9-6B59-4DE7-9821-301814C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Transfer from IDS2018 to UNSW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1A7D8-1D87-4AE3-A4F1-8F466274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ebd522b194d1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3B1F9-5E68-4C7D-A150-376A09A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Macro-F1 means across three seeds. The best target mean remains about 0.516.</a:t>
            </a:r>
          </a:p>
        </p:txBody>
      </p:sp>
    </p:spTree>
    <p:extLst>
      <p:ext uri="{BB962C8B-B14F-4D97-AF65-F5344CB8AC3E}">
        <p14:creationId xmlns:p14="http://schemas.microsoft.com/office/powerpoint/2010/main" val="1956263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F78F-287B-4F32-8526-790F850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Explanation stability after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3F2FE-476E-47F1-A4AB-CB13407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75da3d90644f0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FA6E-17F6-4709-88D2-4A0B3741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UNSW-trained models on IDS2018. Random forest Jaccard@5 = 0.9222.</a:t>
            </a:r>
          </a:p>
        </p:txBody>
      </p:sp>
    </p:spTree>
    <p:extLst>
      <p:ext uri="{BB962C8B-B14F-4D97-AF65-F5344CB8AC3E}">
        <p14:creationId xmlns:p14="http://schemas.microsoft.com/office/powerpoint/2010/main" val="756367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D6123-AE56-424A-BC09-83DECCC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Masking advantage after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03739-9040-4B23-922E-A5BD1773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4a019bb30b45c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A77B8-8432-4304-AD23-9E681262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Random forest: -0.1338, 95% interval [-0.2034, -0.0476].</a:t>
            </a:r>
          </a:p>
        </p:txBody>
      </p:sp>
    </p:spTree>
    <p:extLst>
      <p:ext uri="{BB962C8B-B14F-4D97-AF65-F5344CB8AC3E}">
        <p14:creationId xmlns:p14="http://schemas.microsoft.com/office/powerpoint/2010/main" val="379054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F141B-4B30-4CCA-B756-1CD2A7F6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Stability does not establish faithfulness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41B32-B8A2-4BB5-9BF9-893A9282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74066-A27C-4B3C-914D-2C623F4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Random forest remains highly repeatable after transfer.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BC9FF-768A-42A5-9F7B-C047ECF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Its median-mask advantage becomes negative on IDS2018.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5904-B51B-4048-AA26-FE045BBC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Signed ranking and mean masking can change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3C19B-0A84-4653-B95B-A239BAD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Interpret the score together with its perturbation protocol.</a:t>
            </a:r>
          </a:p>
        </p:txBody>
      </p:sp>
    </p:spTree>
    <p:extLst>
      <p:ext uri="{BB962C8B-B14F-4D97-AF65-F5344CB8AC3E}">
        <p14:creationId xmlns:p14="http://schemas.microsoft.com/office/powerpoint/2010/main" val="14528255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07E54-55C9-4FDE-A5B5-B10F835D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Historical result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8DB34-FE75-4F42-BA16-8E15E22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26211-9F7B-4CC1-B950-98B2B095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483 matched cases per tree model support reconstruction.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CBCD-06F3-487C-912A-49770871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Within-model stability–advantage correlations are positive.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28D62-9F28-4D67-B54F-47EDBBEE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The arithmetic reconstruction found no material reversal.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7F18D-4927-483A-8009-EF486375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The old random split has 88.97% exact-input overlap.</a:t>
            </a:r>
          </a:p>
        </p:txBody>
      </p:sp>
    </p:spTree>
    <p:extLst>
      <p:ext uri="{BB962C8B-B14F-4D97-AF65-F5344CB8AC3E}">
        <p14:creationId xmlns:p14="http://schemas.microsoft.com/office/powerpoint/2010/main" val="18906920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BC88A-1B83-43B7-98BD-5BF3825C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RQ4: agreement between explainers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2CFE5-5602-4EC2-8BE1-C36856B6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658C2-E4AD-4308-A405-BE826521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Historical LIME and TreeSHAP rankings show partial agreement.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68308-805C-40E7-BE56-AB412825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Random forest rank correlation is 0.676 in that protocol.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6EFE-7BC0-406D-A80A-BB7734CB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The same comparison shares only two of the top five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CE485-35B6-4834-AB9E-D90C765C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Rank correlation and top-feature overlap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329654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CA288-68C9-4AE1-BDF0-F86F962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Language-model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9B183-23F1-40E4-878B-A36C635C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6EB3-C204-4DAA-9646-0558CA96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Qwen2.5-0.5B, TinyLlama-1.1B and SmolLM2-1.7B.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4B331-C7E1-4BF6-8C5D-C7573B6D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400 classification cases per model under the frozen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AD256-01A0-4693-BE65-B7BD4BA5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80 own-decision and 80 detector-grounded explanations per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62B2E-060E-4F9A-97AF-1660418D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1,200 classifications and 240 matched explanation pairs.</a:t>
            </a:r>
          </a:p>
        </p:txBody>
      </p:sp>
    </p:spTree>
    <p:extLst>
      <p:ext uri="{BB962C8B-B14F-4D97-AF65-F5344CB8AC3E}">
        <p14:creationId xmlns:p14="http://schemas.microsoft.com/office/powerpoint/2010/main" val="1726692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A4A9A-0EEF-49B0-A613-74C22758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LLM classification under the frozen 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57522-833E-4A5A-A9F3-77BE2730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62df61f8dc481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8EE65-9887-4D2A-B693-18E6798B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Each model predicts one class throughout its balanced cohort. Balanced accuracy = 0.5000.</a:t>
            </a:r>
          </a:p>
        </p:txBody>
      </p:sp>
    </p:spTree>
    <p:extLst>
      <p:ext uri="{BB962C8B-B14F-4D97-AF65-F5344CB8AC3E}">
        <p14:creationId xmlns:p14="http://schemas.microsoft.com/office/powerpoint/2010/main" val="17917784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01AF5-E347-4D59-B984-529AA606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Valid own-decision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05F5D-6AB6-4DF1-9CF9-10EBAD0B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af5411cc394a1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8CC33-2779-4EFB-8BF9-A864BCA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Valid feature-list outputs out of 80 per model. Masking scores apply only to valid outputs.</a:t>
            </a:r>
          </a:p>
        </p:txBody>
      </p:sp>
    </p:spTree>
    <p:extLst>
      <p:ext uri="{BB962C8B-B14F-4D97-AF65-F5344CB8AC3E}">
        <p14:creationId xmlns:p14="http://schemas.microsoft.com/office/powerpoint/2010/main" val="16153187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5A8C0-72A1-4029-B73F-3FBA1D1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Valid detector-grounded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62600-DCA5-4CA5-A9D8-BBD7D8C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e8ff493af04b0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5F312-2BFD-477C-AF0C-47C09FA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Valid feature-list outputs out of 80 per model. Masking scores apply only to valid outputs.</a:t>
            </a:r>
          </a:p>
        </p:txBody>
      </p:sp>
    </p:spTree>
    <p:extLst>
      <p:ext uri="{BB962C8B-B14F-4D97-AF65-F5344CB8AC3E}">
        <p14:creationId xmlns:p14="http://schemas.microsoft.com/office/powerpoint/2010/main" val="13903796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34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27071-EEAC-468F-843D-ED4F115D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04987-1D20-4529-9A5E-8D1B723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E4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D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BD750-3DE1-413B-9126-EA6C050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High within-dataset accuracy does not guarantee transfer.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6188-3DCA-4241-A506-A9E40FC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Stable explanations can have weak masking advantage.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B769A-A6F2-44A6-B69E-357C4B56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The small LLMs fail classification under the tested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F6AE9-6BF5-495B-8CE2-9C28647A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The audit supports narrower, protocol-specific conclusions.</a:t>
            </a:r>
          </a:p>
        </p:txBody>
      </p:sp>
    </p:spTree>
    <p:extLst>
      <p:ext uri="{BB962C8B-B14F-4D97-AF65-F5344CB8AC3E}">
        <p14:creationId xmlns:p14="http://schemas.microsoft.com/office/powerpoint/2010/main" val="5417001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C2101-9416-4040-9C86-B5BEA90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A2F2C-AADD-4464-A291-CC4053C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DE63E-3127-4CCC-A1E3-A7B38BFF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Use chronological splits and evaluate on operational traffic.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60928-A012-4151-9AB3-7C07B508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Repeat explanation tests across more cases and training seeds.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02B78-30AB-4B11-8C58-F8574777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Test conditional perturbations and analyst usefulness.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C393C-111E-408B-966C-5EA8722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Evaluate larger LLMs with controlled prompt and scoring ablations.</a:t>
            </a:r>
          </a:p>
        </p:txBody>
      </p:sp>
    </p:spTree>
    <p:extLst>
      <p:ext uri="{BB962C8B-B14F-4D97-AF65-F5344CB8AC3E}">
        <p14:creationId xmlns:p14="http://schemas.microsoft.com/office/powerpoint/2010/main" val="19444106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34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E3AF5-4B32-4EAE-9863-6DC2047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5EC0E-D252-42BA-AE97-5E96133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E4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6E4D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EF841-49F4-4743-A587-F910C030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How should explanation reliability change an IDS decision?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1F031-F918-4B25-87B0-A20C1D0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5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5EB"/>
                </a:solidFill>
                <a:latin typeface="Arial"/>
                <a:ea typeface="Arial"/>
                <a:cs typeface="Arial"/>
              </a:rPr>
              <a:t>Backup slides contain multiclass results and protocol details.</a:t>
            </a:r>
          </a:p>
        </p:txBody>
      </p:sp>
    </p:spTree>
    <p:extLst>
      <p:ext uri="{BB962C8B-B14F-4D97-AF65-F5344CB8AC3E}">
        <p14:creationId xmlns:p14="http://schemas.microsoft.com/office/powerpoint/2010/main" val="8494957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8F9B3-2659-4B02-BC99-47B2D242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Backup: UNSW multiclass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D703-6182-497E-81C5-D674B9A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ab90b5ea294c3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52E0C-12DE-4516-B4F9-7C5C50FB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Native attack taxonomy. Macro-F1 means across three seeds.</a:t>
            </a:r>
          </a:p>
        </p:txBody>
      </p:sp>
    </p:spTree>
    <p:extLst>
      <p:ext uri="{BB962C8B-B14F-4D97-AF65-F5344CB8AC3E}">
        <p14:creationId xmlns:p14="http://schemas.microsoft.com/office/powerpoint/2010/main" val="5156771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A9569-53E0-47C7-8587-173314F8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Backup: IDS2018 multiclass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3376B-19C0-4EFD-80AA-5CCCFEEB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28650" y="16668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35f812a070453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3F83C-2814-4B96-A41A-4967CA7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Native attack taxonomy. Cross-dataset multiclass labels are not aligned.</a:t>
            </a:r>
          </a:p>
        </p:txBody>
      </p:sp>
    </p:spTree>
    <p:extLst>
      <p:ext uri="{BB962C8B-B14F-4D97-AF65-F5344CB8AC3E}">
        <p14:creationId xmlns:p14="http://schemas.microsoft.com/office/powerpoint/2010/main" val="19896503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995B7-0040-4C06-95F9-B18431E5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Backup: neural training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BBA3-B466-48F2-A120-2678535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255BF-E609-4828-9CC1-FB34C2DB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Shallow MLP: one hidden layer with 64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A46CC-2D90-4F92-9BC0-E3C772B2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Deep MLP: 256, 128 and 64 units with 0.1 dropout.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47FA-0FB0-4B88-9295-B8764AEC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Feature CNN: 16 and 32 channels, kernel size 3, dense layer 64.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7144A-556E-419E-850A-04190B84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AdamW, 20-epoch cap, patience 4, batch size 1,024.</a:t>
            </a:r>
          </a:p>
        </p:txBody>
      </p:sp>
    </p:spTree>
    <p:extLst>
      <p:ext uri="{BB962C8B-B14F-4D97-AF65-F5344CB8AC3E}">
        <p14:creationId xmlns:p14="http://schemas.microsoft.com/office/powerpoint/2010/main" val="111699336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EB86C-23BF-4068-87FC-E128E98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934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92D24"/>
                </a:solidFill>
                <a:latin typeface="Arial"/>
                <a:ea typeface="Arial"/>
                <a:cs typeface="Arial"/>
              </a:rPr>
              <a:t>Backup: sources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E64E-4383-48D8-84AA-ACB91A3E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35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09D91-06E1-45E6-88AD-FE7227E9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Original thesis and preserved expanded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7E2F-1B31-4404-AB6A-7CAC0B9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Detection: results/study/across_seed_summary.csv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6340B-954B-48AC-8D18-87BA87D7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Explanations: results/study/xai/aggregate.csv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E7760-B49D-40DA-B813-26B3AC1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2D24"/>
                </a:solidFill>
                <a:latin typeface="Arial"/>
                <a:ea typeface="Arial"/>
                <a:cs typeface="Arial"/>
              </a:rPr>
              <a:t>LLM coverage: results/study/llm/masking_coverage.csv</a:t>
            </a:r>
          </a:p>
        </p:txBody>
      </p:sp>
    </p:spTree>
    <p:extLst>
      <p:ext uri="{BB962C8B-B14F-4D97-AF65-F5344CB8AC3E}">
        <p14:creationId xmlns:p14="http://schemas.microsoft.com/office/powerpoint/2010/main" val="800439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2026-09-24T13:52:27.5700000Z</dcterms:created>
  <dcterms:modified xsi:type="dcterms:W3CDTF">2026-09-24T13:52:27.5700000Z</dcterms:modified>
</coreProperties>
</file>